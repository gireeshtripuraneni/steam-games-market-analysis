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Raleway" pitchFamily="2" charset="0"/>
      <p:regular r:id="rId16"/>
    </p:embeddedFont>
    <p:embeddedFont>
      <p:font typeface="Raleway Light" pitchFamily="2" charset="0"/>
      <p:regular r:id="rId17"/>
      <p: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  <p:embeddedFont>
      <p:font typeface="Roboto Bold" panose="02000000000000000000" charset="0"/>
      <p:regular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34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7846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fronkongames/steam-games-dataset/dat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team-games-market-analysis-3gpotck5qp9gsnxpxexdyq.streamlit.app/" TargetMode="External"/><Relationship Id="rId2" Type="http://schemas.openxmlformats.org/officeDocument/2006/relationships/hyperlink" Target="https://github.com/gireeshtripuraneni/Steam-Games-Market-Analysis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rive.usercontent.google.com/download?id=17X7MhTvbqW3N6YeuATl0TOKxEYyOqwUm&amp;export=download&amp;authuser=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E1E1E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42" y="380181"/>
            <a:ext cx="3287241" cy="438306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25119" y="1721644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Steam Games Market Analysis Dashboard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3925119" y="2820219"/>
            <a:ext cx="5179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Visualization Final Project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925119" y="3206502"/>
            <a:ext cx="2008510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1B1B2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4010174" y="3248992"/>
            <a:ext cx="229559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GIREESH CHOWDARY TRIPURANENI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004471" y="3206502"/>
            <a:ext cx="2295153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1B1B2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6089526" y="3248992"/>
            <a:ext cx="2582242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· STREAMLIT · PLOTLY · PANDAS</a:t>
            </a:r>
            <a:endParaRPr lang="en-US" sz="8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72A0AB-1C4E-2399-1A37-BB6BC9566D7E}"/>
              </a:ext>
            </a:extLst>
          </p:cNvPr>
          <p:cNvSpPr/>
          <p:nvPr/>
        </p:nvSpPr>
        <p:spPr>
          <a:xfrm>
            <a:off x="7907983" y="4679206"/>
            <a:ext cx="1165175" cy="4035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989335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Project Overview &amp; Dataset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394022" y="1644923"/>
            <a:ext cx="4107135" cy="2509168"/>
          </a:xfrm>
          <a:prstGeom prst="roundRect">
            <a:avLst>
              <a:gd name="adj" fmla="val 4068"/>
            </a:avLst>
          </a:prstGeom>
          <a:solidFill>
            <a:srgbClr val="1B1B27">
              <a:alpha val="95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" name="Text 2"/>
          <p:cNvSpPr/>
          <p:nvPr/>
        </p:nvSpPr>
        <p:spPr>
          <a:xfrm>
            <a:off x="535781" y="1786682"/>
            <a:ext cx="382361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Objective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35781" y="2149897"/>
            <a:ext cx="3823618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Interactive dashboard to analyze Steam game data — exploring market trends, genres, pricing, and user engagement.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35781" y="2972098"/>
            <a:ext cx="382361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Source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35781" y="3335313"/>
            <a:ext cx="4280818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Steam Games Dataset — Kaggle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49701" y="1786682"/>
            <a:ext cx="390294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Dataset Features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749701" y="2167607"/>
            <a:ext cx="1880592" cy="514499"/>
          </a:xfrm>
          <a:prstGeom prst="roundRect">
            <a:avLst>
              <a:gd name="adj" fmla="val 1157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896222" y="2314129"/>
            <a:ext cx="158755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772052" y="2167607"/>
            <a:ext cx="1880592" cy="514499"/>
          </a:xfrm>
          <a:prstGeom prst="roundRect">
            <a:avLst>
              <a:gd name="adj" fmla="val 1157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918573" y="2314129"/>
            <a:ext cx="158755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Price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749701" y="2823865"/>
            <a:ext cx="1880592" cy="514499"/>
          </a:xfrm>
          <a:prstGeom prst="roundRect">
            <a:avLst>
              <a:gd name="adj" fmla="val 1157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896222" y="2970386"/>
            <a:ext cx="158755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Reviews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772052" y="2823865"/>
            <a:ext cx="1880592" cy="514499"/>
          </a:xfrm>
          <a:prstGeom prst="roundRect">
            <a:avLst>
              <a:gd name="adj" fmla="val 1157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918573" y="2970386"/>
            <a:ext cx="158755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Peak CCU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749701" y="3480122"/>
            <a:ext cx="1880592" cy="514499"/>
          </a:xfrm>
          <a:prstGeom prst="roundRect">
            <a:avLst>
              <a:gd name="adj" fmla="val 1157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896222" y="3626644"/>
            <a:ext cx="158755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Metacritic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772052" y="3480122"/>
            <a:ext cx="1880592" cy="514499"/>
          </a:xfrm>
          <a:prstGeom prst="roundRect">
            <a:avLst>
              <a:gd name="adj" fmla="val 1157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918573" y="3626644"/>
            <a:ext cx="158755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Platform</a:t>
            </a:r>
            <a:endParaRPr lang="en-US" sz="135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B93D047-0883-E126-C290-716D48DDA374}"/>
              </a:ext>
            </a:extLst>
          </p:cNvPr>
          <p:cNvSpPr/>
          <p:nvPr/>
        </p:nvSpPr>
        <p:spPr>
          <a:xfrm>
            <a:off x="7907983" y="4679206"/>
            <a:ext cx="1165175" cy="4035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76E256-05E8-B19B-7F8A-0346A328FBB4}"/>
              </a:ext>
            </a:extLst>
          </p:cNvPr>
          <p:cNvSpPr txBox="1"/>
          <p:nvPr/>
        </p:nvSpPr>
        <p:spPr>
          <a:xfrm>
            <a:off x="389260" y="3545516"/>
            <a:ext cx="37712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hlinkClick r:id="rId3"/>
              </a:rPr>
              <a:t>https://www.kaggle.com/datasets/fronkongames/steam-games-dataset/data</a:t>
            </a:r>
            <a:endParaRPr lang="en-IN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21481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 Preparation &amp; Architecture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41" y="1147986"/>
            <a:ext cx="7890644" cy="296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002209" y="3390127"/>
            <a:ext cx="1190147" cy="229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502299" y="3275494"/>
            <a:ext cx="1190146" cy="4585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Date &amp; Dedupe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010540" y="3275494"/>
            <a:ext cx="1190146" cy="4585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Convert Numeric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2518781" y="3275494"/>
            <a:ext cx="1190146" cy="4585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Handle Missing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94415" y="3390127"/>
            <a:ext cx="1190146" cy="229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Raw Data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96119" y="4268391"/>
            <a:ext cx="8151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Built on a clean three-layer stack: </a:t>
            </a: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Pandas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for preprocessing, </a:t>
            </a: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Plotly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for interactive charts, and </a:t>
            </a: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Streamlit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for the web interface — featuring sidebar filters, KPI cards, and 4 interactive tabs.</a:t>
            </a:r>
            <a:endParaRPr lang="en-US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778F3C-B41B-0760-6850-FD6D8761F60E}"/>
              </a:ext>
            </a:extLst>
          </p:cNvPr>
          <p:cNvSpPr/>
          <p:nvPr/>
        </p:nvSpPr>
        <p:spPr>
          <a:xfrm>
            <a:off x="7907983" y="4679206"/>
            <a:ext cx="1165175" cy="4035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05631"/>
            <a:ext cx="8151763" cy="4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Dashboard Overview</a:t>
            </a:r>
            <a:endParaRPr lang="en-US" sz="2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205508"/>
            <a:ext cx="3826222" cy="1875086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6758" y="1165994"/>
            <a:ext cx="3995812" cy="1954113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96119" y="3409876"/>
            <a:ext cx="8151763" cy="971996"/>
          </a:xfrm>
          <a:prstGeom prst="roundRect">
            <a:avLst>
              <a:gd name="adj" fmla="val 5839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2"/>
          <p:cNvSpPr/>
          <p:nvPr/>
        </p:nvSpPr>
        <p:spPr>
          <a:xfrm>
            <a:off x="500881" y="3414638"/>
            <a:ext cx="4071119" cy="481236"/>
          </a:xfrm>
          <a:custGeom>
            <a:avLst/>
            <a:gdLst/>
            <a:ahLst/>
            <a:cxnLst/>
            <a:rect l="l" t="t" r="r" b="b"/>
            <a:pathLst>
              <a:path w="4071119" h="481236">
                <a:moveTo>
                  <a:pt x="47293" y="0"/>
                </a:moveTo>
                <a:lnTo>
                  <a:pt x="4071119" y="0"/>
                </a:lnTo>
                <a:lnTo>
                  <a:pt x="4071119" y="481236"/>
                </a:lnTo>
                <a:lnTo>
                  <a:pt x="0" y="481236"/>
                </a:lnTo>
                <a:lnTo>
                  <a:pt x="0" y="47293"/>
                </a:lnTo>
                <a:arcTo wR="47293" hR="47293" stAng="10800000" swAng="5400000"/>
                <a:close/>
              </a:path>
            </a:pathLst>
          </a:custGeom>
          <a:solidFill>
            <a:srgbClr val="E1E1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3"/>
          <p:cNvSpPr/>
          <p:nvPr/>
        </p:nvSpPr>
        <p:spPr>
          <a:xfrm>
            <a:off x="635943" y="3549700"/>
            <a:ext cx="3800996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Overview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572000" y="3414638"/>
            <a:ext cx="4071119" cy="481236"/>
          </a:xfrm>
          <a:custGeom>
            <a:avLst/>
            <a:gdLst/>
            <a:ahLst/>
            <a:cxnLst/>
            <a:rect l="l" t="t" r="r" b="b"/>
            <a:pathLst>
              <a:path w="4071119" h="481236">
                <a:moveTo>
                  <a:pt x="0" y="0"/>
                </a:moveTo>
                <a:lnTo>
                  <a:pt x="4023826" y="0"/>
                </a:lnTo>
                <a:arcTo wR="47293" hR="47293" stAng="16200000" swAng="5400000"/>
                <a:lnTo>
                  <a:pt x="4071119" y="481236"/>
                </a:lnTo>
                <a:lnTo>
                  <a:pt x="0" y="481236"/>
                </a:lnTo>
                <a:lnTo>
                  <a:pt x="0" y="0"/>
                </a:lnTo>
                <a:close/>
              </a:path>
            </a:pathLst>
          </a:custGeom>
          <a:solidFill>
            <a:srgbClr val="E1E1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5"/>
          <p:cNvSpPr/>
          <p:nvPr/>
        </p:nvSpPr>
        <p:spPr>
          <a:xfrm>
            <a:off x="4572000" y="3414638"/>
            <a:ext cx="19050" cy="481236"/>
          </a:xfrm>
          <a:prstGeom prst="roundRect">
            <a:avLst>
              <a:gd name="adj" fmla="val 50000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6"/>
          <p:cNvSpPr/>
          <p:nvPr/>
        </p:nvSpPr>
        <p:spPr>
          <a:xfrm>
            <a:off x="4707062" y="3549700"/>
            <a:ext cx="3800996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Market Analysis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00881" y="3895874"/>
            <a:ext cx="4071119" cy="481236"/>
          </a:xfrm>
          <a:custGeom>
            <a:avLst/>
            <a:gdLst/>
            <a:ahLst/>
            <a:cxnLst/>
            <a:rect l="l" t="t" r="r" b="b"/>
            <a:pathLst>
              <a:path w="4071119" h="481236">
                <a:moveTo>
                  <a:pt x="0" y="0"/>
                </a:moveTo>
                <a:lnTo>
                  <a:pt x="4071119" y="0"/>
                </a:lnTo>
                <a:lnTo>
                  <a:pt x="4071119" y="481236"/>
                </a:lnTo>
                <a:lnTo>
                  <a:pt x="47293" y="481236"/>
                </a:lnTo>
                <a:arcTo wR="47293" hR="47293" stAng="5400000" swAng="5400000"/>
                <a:lnTo>
                  <a:pt x="0" y="0"/>
                </a:lnTo>
                <a:close/>
              </a:path>
            </a:pathLst>
          </a:custGeom>
          <a:solidFill>
            <a:srgbClr val="E1E1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8"/>
          <p:cNvSpPr/>
          <p:nvPr/>
        </p:nvSpPr>
        <p:spPr>
          <a:xfrm>
            <a:off x="500881" y="3895874"/>
            <a:ext cx="4071119" cy="19050"/>
          </a:xfrm>
          <a:prstGeom prst="roundRect">
            <a:avLst>
              <a:gd name="adj" fmla="val 50000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9"/>
          <p:cNvSpPr/>
          <p:nvPr/>
        </p:nvSpPr>
        <p:spPr>
          <a:xfrm>
            <a:off x="635943" y="4030935"/>
            <a:ext cx="3800996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Game Performance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572000" y="3895874"/>
            <a:ext cx="4071119" cy="481236"/>
          </a:xfrm>
          <a:custGeom>
            <a:avLst/>
            <a:gdLst/>
            <a:ahLst/>
            <a:cxnLst/>
            <a:rect l="l" t="t" r="r" b="b"/>
            <a:pathLst>
              <a:path w="4071119" h="481236">
                <a:moveTo>
                  <a:pt x="0" y="0"/>
                </a:moveTo>
                <a:lnTo>
                  <a:pt x="4071119" y="0"/>
                </a:lnTo>
                <a:lnTo>
                  <a:pt x="4071119" y="433943"/>
                </a:lnTo>
                <a:arcTo wR="47293" hR="47293" stAng="0" swAng="5400000"/>
                <a:lnTo>
                  <a:pt x="0" y="481236"/>
                </a:lnTo>
                <a:lnTo>
                  <a:pt x="0" y="0"/>
                </a:lnTo>
                <a:close/>
              </a:path>
            </a:pathLst>
          </a:custGeom>
          <a:solidFill>
            <a:srgbClr val="E1E1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1"/>
          <p:cNvSpPr/>
          <p:nvPr/>
        </p:nvSpPr>
        <p:spPr>
          <a:xfrm>
            <a:off x="4572000" y="3895874"/>
            <a:ext cx="19050" cy="481236"/>
          </a:xfrm>
          <a:prstGeom prst="roundRect">
            <a:avLst>
              <a:gd name="adj" fmla="val 50000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2"/>
          <p:cNvSpPr/>
          <p:nvPr/>
        </p:nvSpPr>
        <p:spPr>
          <a:xfrm>
            <a:off x="4572000" y="3895874"/>
            <a:ext cx="4071119" cy="19050"/>
          </a:xfrm>
          <a:prstGeom prst="roundRect">
            <a:avLst>
              <a:gd name="adj" fmla="val 50000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3"/>
          <p:cNvSpPr/>
          <p:nvPr/>
        </p:nvSpPr>
        <p:spPr>
          <a:xfrm>
            <a:off x="4707062" y="4030935"/>
            <a:ext cx="3800996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Insights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96119" y="4526756"/>
            <a:ext cx="860896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Sidebar filters for genre, platform, price range, and date — KPI cards surface top-level metrics at a glance.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FDF111-1D0C-5838-AC11-DDDCE856A631}"/>
              </a:ext>
            </a:extLst>
          </p:cNvPr>
          <p:cNvSpPr/>
          <p:nvPr/>
        </p:nvSpPr>
        <p:spPr>
          <a:xfrm>
            <a:off x="7907983" y="4679206"/>
            <a:ext cx="1165175" cy="4035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316013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Visualizations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2042517"/>
            <a:ext cx="1371600" cy="84765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119" y="3067348"/>
            <a:ext cx="190500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Top Reviewed Games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496119" y="3373859"/>
            <a:ext cx="1905000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Counter-Strike 2 leads with </a:t>
            </a: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7.6M+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positive reviews</a:t>
            </a:r>
            <a:endParaRPr lang="en-US" sz="11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8298" y="2042517"/>
            <a:ext cx="1371600" cy="84765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578298" y="3067348"/>
            <a:ext cx="190507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Genre Distribution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2578298" y="3373859"/>
            <a:ext cx="190507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Indie &amp; Action dominate the Steam catalog</a:t>
            </a:r>
            <a:endParaRPr lang="en-US" sz="11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0553" y="2042517"/>
            <a:ext cx="1371600" cy="84765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660553" y="3067348"/>
            <a:ext cx="190507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Platform Support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4660553" y="3373859"/>
            <a:ext cx="190507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Windows: 125K+ games · Mac: 21K · Linux: 16K</a:t>
            </a:r>
            <a:endParaRPr lang="en-US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2807" y="2042517"/>
            <a:ext cx="1371600" cy="847651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742807" y="3067348"/>
            <a:ext cx="190507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Engagement Trends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6742807" y="3373859"/>
            <a:ext cx="190507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Peak CCU and review volume across titles</a:t>
            </a:r>
            <a:endParaRPr lang="en-US" sz="11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4BB2A0-8FF4-6EF0-3DB3-A3D5B51A5EC3}"/>
              </a:ext>
            </a:extLst>
          </p:cNvPr>
          <p:cNvSpPr/>
          <p:nvPr/>
        </p:nvSpPr>
        <p:spPr>
          <a:xfrm>
            <a:off x="7907983" y="4679206"/>
            <a:ext cx="1165175" cy="4035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92534"/>
            <a:ext cx="8151763" cy="256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Market &amp; Performance Analysis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107281"/>
            <a:ext cx="2723183" cy="1630263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1228" y="772939"/>
            <a:ext cx="3854053" cy="229894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19" y="3231728"/>
            <a:ext cx="2723183" cy="1465883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3423940" y="3720703"/>
            <a:ext cx="5228630" cy="128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Findings</a:t>
            </a:r>
            <a:endParaRPr lang="en-US" sz="800" dirty="0"/>
          </a:p>
        </p:txBody>
      </p:sp>
      <p:sp>
        <p:nvSpPr>
          <p:cNvPr id="7" name="Text 2"/>
          <p:cNvSpPr/>
          <p:nvPr/>
        </p:nvSpPr>
        <p:spPr>
          <a:xfrm>
            <a:off x="3423940" y="3896097"/>
            <a:ext cx="5228630" cy="3433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21920" indent="-121920" algn="l">
              <a:lnSpc>
                <a:spcPct val="105000"/>
              </a:lnSpc>
              <a:buSzPct val="100000"/>
              <a:buChar char="•"/>
            </a:pPr>
            <a:r>
              <a:rPr lang="en-US" sz="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Positive reviews strongly correlate with recommendations </a:t>
            </a:r>
            <a:r>
              <a:rPr lang="en-US" sz="6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(r = 0.74)</a:t>
            </a:r>
            <a:endParaRPr lang="en-US" sz="600" dirty="0"/>
          </a:p>
          <a:p>
            <a:pPr marL="121920" indent="-121920" algn="l">
              <a:lnSpc>
                <a:spcPct val="105000"/>
              </a:lnSpc>
              <a:buSzPct val="100000"/>
              <a:buChar char="•"/>
            </a:pPr>
            <a:r>
              <a:rPr lang="en-US" sz="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Valve leads developer recommendations; Ubisoft Montreal close second</a:t>
            </a:r>
            <a:endParaRPr lang="en-US" sz="600" dirty="0"/>
          </a:p>
          <a:p>
            <a:pPr marL="121920" indent="-121920" algn="l">
              <a:lnSpc>
                <a:spcPct val="105000"/>
              </a:lnSpc>
              <a:buSzPct val="100000"/>
              <a:buChar char="•"/>
            </a:pPr>
            <a:r>
              <a:rPr lang="en-US" sz="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Most high-review games are priced </a:t>
            </a:r>
            <a:r>
              <a:rPr lang="en-US" sz="6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under $20</a:t>
            </a:r>
            <a:endParaRPr lang="en-US" sz="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7A397F-1734-F287-68CE-30060CD53E64}"/>
              </a:ext>
            </a:extLst>
          </p:cNvPr>
          <p:cNvSpPr/>
          <p:nvPr/>
        </p:nvSpPr>
        <p:spPr>
          <a:xfrm>
            <a:off x="7907983" y="4679206"/>
            <a:ext cx="1165175" cy="4035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29047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Insights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1555552"/>
            <a:ext cx="2622724" cy="130857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3127" y="1716360"/>
            <a:ext cx="222490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Platform Dominance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733127" y="2022872"/>
            <a:ext cx="2224906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dominates platform support across the entire Steam catalog</a:t>
            </a:r>
            <a:endParaRPr lang="en-US" sz="11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60601" y="1555552"/>
            <a:ext cx="2622724" cy="130857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497610" y="1716360"/>
            <a:ext cx="222490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Genre Landscape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3497610" y="2022872"/>
            <a:ext cx="222490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Indie &amp; Action are the most common genres by volume</a:t>
            </a:r>
            <a:endParaRPr lang="en-US" sz="11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25083" y="1555552"/>
            <a:ext cx="2622724" cy="130857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262092" y="1716360"/>
            <a:ext cx="2224906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Review → Recommendation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6262092" y="2244328"/>
            <a:ext cx="222490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More positive reviews consistently drive more recommendations</a:t>
            </a:r>
            <a:endParaRPr lang="en-US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3005882"/>
            <a:ext cx="2622724" cy="1308571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33127" y="3166690"/>
            <a:ext cx="222490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Engagement Variance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733127" y="3473202"/>
            <a:ext cx="2224906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engagement varies significantly across titles — a few outliers dominate</a:t>
            </a:r>
            <a:endParaRPr lang="en-US" sz="11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60601" y="3005882"/>
            <a:ext cx="2622724" cy="1308571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497610" y="3166690"/>
            <a:ext cx="222490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Dynamic Exploration</a:t>
            </a:r>
            <a:endParaRPr lang="en-US" sz="1350" dirty="0"/>
          </a:p>
        </p:txBody>
      </p:sp>
      <p:sp>
        <p:nvSpPr>
          <p:cNvPr id="17" name="Text 10"/>
          <p:cNvSpPr/>
          <p:nvPr/>
        </p:nvSpPr>
        <p:spPr>
          <a:xfrm>
            <a:off x="3497610" y="3473202"/>
            <a:ext cx="222490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Sidebar filters enable efficient, real-time dataset exploration</a:t>
            </a:r>
            <a:endParaRPr lang="en-US" sz="11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0A8F6B-C5E1-B077-E871-EC08ACF5B179}"/>
              </a:ext>
            </a:extLst>
          </p:cNvPr>
          <p:cNvSpPr/>
          <p:nvPr/>
        </p:nvSpPr>
        <p:spPr>
          <a:xfrm>
            <a:off x="7907983" y="4679206"/>
            <a:ext cx="1165175" cy="4035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E1E1E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42" y="380181"/>
            <a:ext cx="3287241" cy="438306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25119" y="623218"/>
            <a:ext cx="4722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Conclusion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3925119" y="1278806"/>
            <a:ext cx="283518" cy="17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925119" y="1500708"/>
            <a:ext cx="2290465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3925119" y="1609651"/>
            <a:ext cx="229046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Built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3925119" y="1916162"/>
            <a:ext cx="2290465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Fully interactive Steam Games dashboard with Streamlit &amp; Plotly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357342" y="1278806"/>
            <a:ext cx="283518" cy="17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357342" y="1500708"/>
            <a:ext cx="2290539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6357342" y="1609651"/>
            <a:ext cx="229053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Applied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357342" y="1916162"/>
            <a:ext cx="2290539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Preprocessing pipelines, KPI cards, and multi-tab visualization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925119" y="2617812"/>
            <a:ext cx="283518" cy="17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925119" y="2839715"/>
            <a:ext cx="4722763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3925119" y="2948657"/>
            <a:ext cx="472276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Future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925119" y="3255169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Steam API integration, real-time updates, and ML-powered recommendations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909120" y="4133999"/>
            <a:ext cx="496736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Thank You — Questions?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925119" y="3974529"/>
            <a:ext cx="19050" cy="545753"/>
          </a:xfrm>
          <a:prstGeom prst="roundRect">
            <a:avLst>
              <a:gd name="adj" fmla="val 50000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7AF00A-A03B-A331-6183-337F52FD147F}"/>
              </a:ext>
            </a:extLst>
          </p:cNvPr>
          <p:cNvSpPr/>
          <p:nvPr/>
        </p:nvSpPr>
        <p:spPr>
          <a:xfrm>
            <a:off x="7907983" y="4679206"/>
            <a:ext cx="1165175" cy="4035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00AF3B-15C2-40BB-B10E-CCD4B96B717C}"/>
              </a:ext>
            </a:extLst>
          </p:cNvPr>
          <p:cNvSpPr txBox="1"/>
          <p:nvPr/>
        </p:nvSpPr>
        <p:spPr>
          <a:xfrm>
            <a:off x="914400" y="706295"/>
            <a:ext cx="7126014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Links:</a:t>
            </a:r>
          </a:p>
          <a:p>
            <a:endParaRPr lang="en-IN" sz="1400" dirty="0"/>
          </a:p>
          <a:p>
            <a:r>
              <a:rPr lang="en-IN" sz="1400" dirty="0" err="1"/>
              <a:t>Github</a:t>
            </a:r>
            <a:r>
              <a:rPr lang="en-IN" sz="1400" dirty="0"/>
              <a:t>: </a:t>
            </a:r>
            <a:r>
              <a:rPr lang="en-IN" sz="1400" dirty="0">
                <a:hlinkClick r:id="rId2"/>
              </a:rPr>
              <a:t>https://github.com/gireeshtripuraneni/Steam-Games-Market-Analysis</a:t>
            </a:r>
            <a:endParaRPr lang="en-IN" sz="1400" dirty="0"/>
          </a:p>
          <a:p>
            <a:r>
              <a:rPr lang="en-IN" sz="1400" dirty="0" err="1"/>
              <a:t>Streamlit</a:t>
            </a:r>
            <a:r>
              <a:rPr lang="en-IN" sz="1400" dirty="0"/>
              <a:t>: </a:t>
            </a:r>
            <a:r>
              <a:rPr lang="en-IN" sz="1400" dirty="0">
                <a:hlinkClick r:id="rId3"/>
              </a:rPr>
              <a:t>https://steam-games-market-analysis-3gpotck5qp9gsnxpxexdyq.streamlit.app/</a:t>
            </a:r>
            <a:endParaRPr lang="en-IN" sz="1400" dirty="0"/>
          </a:p>
          <a:p>
            <a:r>
              <a:rPr lang="en-IN" sz="1400" dirty="0"/>
              <a:t>Dataset: </a:t>
            </a:r>
            <a:r>
              <a:rPr lang="en-IN" sz="1400" dirty="0">
                <a:hlinkClick r:id="rId4"/>
              </a:rPr>
              <a:t>https://drive.usercontent.google.com/download?id=17X7MhTvbqW3N6YeuATl0TOKxEYyOqwUm&amp;export=download&amp;authuser=0</a:t>
            </a:r>
            <a:endParaRPr lang="en-IN" sz="1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2423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388</Words>
  <Application>Microsoft Office PowerPoint</Application>
  <PresentationFormat>On-screen Show (16:9)</PresentationFormat>
  <Paragraphs>79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Calibri</vt:lpstr>
      <vt:lpstr>Arial</vt:lpstr>
      <vt:lpstr>Roboto</vt:lpstr>
      <vt:lpstr>Roboto Bold</vt:lpstr>
      <vt:lpstr>Raleway Light</vt:lpstr>
      <vt:lpstr>Raleway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Gireesh Chowdary</dc:creator>
  <cp:lastModifiedBy>Gireesh Chowdary Tripuraneni</cp:lastModifiedBy>
  <cp:revision>3</cp:revision>
  <dcterms:created xsi:type="dcterms:W3CDTF">2026-07-28T20:06:34Z</dcterms:created>
  <dcterms:modified xsi:type="dcterms:W3CDTF">2026-07-28T22:19:18Z</dcterms:modified>
</cp:coreProperties>
</file>