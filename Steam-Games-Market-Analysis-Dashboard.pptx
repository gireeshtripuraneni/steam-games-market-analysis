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Raleway" pitchFamily="2" charset="0"/>
      <p:regular r:id="rId15"/>
    </p:embeddedFont>
    <p:embeddedFont>
      <p:font typeface="Raleway Light" pitchFamily="2" charset="0"/>
      <p:regular r:id="rId16"/>
      <p:italic r:id="rId17"/>
    </p:embeddedFont>
    <p:embeddedFont>
      <p:font typeface="Roboto" panose="02000000000000000000" pitchFamily="2" charset="0"/>
      <p:regular r:id="rId18"/>
    </p:embeddedFont>
    <p:embeddedFont>
      <p:font typeface="Roboto Bold" panose="02000000000000000000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4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7846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fronkongames/steam-games-dataset/dat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72164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Steam Games Market Analysis Dashboard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2820219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Visualization Final Project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925119" y="3206502"/>
            <a:ext cx="2008510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1B1B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010174" y="3248992"/>
            <a:ext cx="229559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GIREESH CHOWDARY TRIPURANENI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004471" y="3206502"/>
            <a:ext cx="2295153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1B1B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089526" y="3248992"/>
            <a:ext cx="258224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· STREAMLIT · PLOTLY · PANDAS</a:t>
            </a:r>
            <a:endParaRPr lang="en-US" sz="8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72A0AB-1C4E-2399-1A37-BB6BC9566D7E}"/>
              </a:ext>
            </a:extLst>
          </p:cNvPr>
          <p:cNvSpPr/>
          <p:nvPr/>
        </p:nvSpPr>
        <p:spPr>
          <a:xfrm>
            <a:off x="7907983" y="4679206"/>
            <a:ext cx="1165175" cy="4035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8933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Overview &amp; Dataset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644923"/>
            <a:ext cx="4107135" cy="2509168"/>
          </a:xfrm>
          <a:prstGeom prst="roundRect">
            <a:avLst>
              <a:gd name="adj" fmla="val 4068"/>
            </a:avLst>
          </a:prstGeom>
          <a:solidFill>
            <a:srgbClr val="1B1B27">
              <a:alpha val="95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535781" y="1786682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Objective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149897"/>
            <a:ext cx="382361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dashboard to analyze Steam game data — exploring market trends, genres, pricing, and user engagement.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5781" y="2972098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Source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5781" y="3335313"/>
            <a:ext cx="428081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Steam Games Dataset — Kaggle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49701" y="1786682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Dataset Features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749701" y="2167607"/>
            <a:ext cx="1880592" cy="514499"/>
          </a:xfrm>
          <a:prstGeom prst="roundRect">
            <a:avLst>
              <a:gd name="adj" fmla="val 1157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896222" y="2314129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Genre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772052" y="2167607"/>
            <a:ext cx="1880592" cy="514499"/>
          </a:xfrm>
          <a:prstGeom prst="roundRect">
            <a:avLst>
              <a:gd name="adj" fmla="val 1157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918573" y="2314129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Price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749701" y="2823865"/>
            <a:ext cx="1880592" cy="514499"/>
          </a:xfrm>
          <a:prstGeom prst="roundRect">
            <a:avLst>
              <a:gd name="adj" fmla="val 1157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96222" y="2970386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Reviews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772052" y="2823865"/>
            <a:ext cx="1880592" cy="514499"/>
          </a:xfrm>
          <a:prstGeom prst="roundRect">
            <a:avLst>
              <a:gd name="adj" fmla="val 1157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918573" y="2970386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Peak CCU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749701" y="3480122"/>
            <a:ext cx="1880592" cy="514499"/>
          </a:xfrm>
          <a:prstGeom prst="roundRect">
            <a:avLst>
              <a:gd name="adj" fmla="val 1157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96222" y="3626644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Metacritic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772052" y="3480122"/>
            <a:ext cx="1880592" cy="514499"/>
          </a:xfrm>
          <a:prstGeom prst="roundRect">
            <a:avLst>
              <a:gd name="adj" fmla="val 1157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918573" y="3626644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Platform</a:t>
            </a:r>
            <a:endParaRPr lang="en-US" sz="13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93D047-0883-E126-C290-716D48DDA374}"/>
              </a:ext>
            </a:extLst>
          </p:cNvPr>
          <p:cNvSpPr/>
          <p:nvPr/>
        </p:nvSpPr>
        <p:spPr>
          <a:xfrm>
            <a:off x="7907983" y="4679206"/>
            <a:ext cx="1165175" cy="4035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76E256-05E8-B19B-7F8A-0346A328FBB4}"/>
              </a:ext>
            </a:extLst>
          </p:cNvPr>
          <p:cNvSpPr txBox="1"/>
          <p:nvPr/>
        </p:nvSpPr>
        <p:spPr>
          <a:xfrm>
            <a:off x="389260" y="3545516"/>
            <a:ext cx="37712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hlinkClick r:id="rId3"/>
              </a:rPr>
              <a:t>https://www.kaggle.com/datasets/fronkongames/steam-games-dataset/data</a:t>
            </a:r>
            <a:endParaRPr lang="en-IN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48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Preparation &amp; Architecture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41" y="1147986"/>
            <a:ext cx="7890644" cy="296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2209" y="3390127"/>
            <a:ext cx="119014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502299" y="3275494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Date &amp; Dedupe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10540" y="3275494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Convert Numeric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18781" y="3275494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Handle Missing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94415" y="3390127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Raw Data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26839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on a clean three-layer stack: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Pandas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preprocessing,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Plotly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interactive charts, and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Streamlit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the web interface — featuring sidebar filters, KPI cards, and 4 interactive tabs.</a:t>
            </a:r>
            <a:endParaRPr lang="en-US" sz="11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778F3C-B41B-0760-6850-FD6D8761F60E}"/>
              </a:ext>
            </a:extLst>
          </p:cNvPr>
          <p:cNvSpPr/>
          <p:nvPr/>
        </p:nvSpPr>
        <p:spPr>
          <a:xfrm>
            <a:off x="7907983" y="4679206"/>
            <a:ext cx="1165175" cy="4035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5631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Dashboard Overview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05508"/>
            <a:ext cx="3826222" cy="187508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6758" y="1165994"/>
            <a:ext cx="3995812" cy="1954113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96119" y="3409876"/>
            <a:ext cx="8151763" cy="971996"/>
          </a:xfrm>
          <a:prstGeom prst="roundRect">
            <a:avLst>
              <a:gd name="adj" fmla="val 583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2"/>
          <p:cNvSpPr/>
          <p:nvPr/>
        </p:nvSpPr>
        <p:spPr>
          <a:xfrm>
            <a:off x="500881" y="3414638"/>
            <a:ext cx="4071119" cy="481236"/>
          </a:xfrm>
          <a:custGeom>
            <a:avLst/>
            <a:gdLst/>
            <a:ahLst/>
            <a:cxnLst/>
            <a:rect l="l" t="t" r="r" b="b"/>
            <a:pathLst>
              <a:path w="4071119" h="481236">
                <a:moveTo>
                  <a:pt x="47293" y="0"/>
                </a:moveTo>
                <a:lnTo>
                  <a:pt x="4071119" y="0"/>
                </a:lnTo>
                <a:lnTo>
                  <a:pt x="4071119" y="481236"/>
                </a:lnTo>
                <a:lnTo>
                  <a:pt x="0" y="481236"/>
                </a:lnTo>
                <a:lnTo>
                  <a:pt x="0" y="47293"/>
                </a:lnTo>
                <a:arcTo wR="47293" hR="47293" stAng="10800000" swAng="5400000"/>
                <a:close/>
              </a:path>
            </a:pathLst>
          </a:custGeom>
          <a:solidFill>
            <a:srgbClr val="E1E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635943" y="3549700"/>
            <a:ext cx="380099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Overview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572000" y="3414638"/>
            <a:ext cx="4071119" cy="481236"/>
          </a:xfrm>
          <a:custGeom>
            <a:avLst/>
            <a:gdLst/>
            <a:ahLst/>
            <a:cxnLst/>
            <a:rect l="l" t="t" r="r" b="b"/>
            <a:pathLst>
              <a:path w="4071119" h="481236">
                <a:moveTo>
                  <a:pt x="0" y="0"/>
                </a:moveTo>
                <a:lnTo>
                  <a:pt x="4023826" y="0"/>
                </a:lnTo>
                <a:arcTo wR="47293" hR="47293" stAng="16200000" swAng="5400000"/>
                <a:lnTo>
                  <a:pt x="4071119" y="481236"/>
                </a:lnTo>
                <a:lnTo>
                  <a:pt x="0" y="481236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5"/>
          <p:cNvSpPr/>
          <p:nvPr/>
        </p:nvSpPr>
        <p:spPr>
          <a:xfrm>
            <a:off x="4572000" y="3414638"/>
            <a:ext cx="19050" cy="481236"/>
          </a:xfrm>
          <a:prstGeom prst="roundRect">
            <a:avLst>
              <a:gd name="adj" fmla="val 50000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4707062" y="3549700"/>
            <a:ext cx="380099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Market Analysis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00881" y="3895874"/>
            <a:ext cx="4071119" cy="481236"/>
          </a:xfrm>
          <a:custGeom>
            <a:avLst/>
            <a:gdLst/>
            <a:ahLst/>
            <a:cxnLst/>
            <a:rect l="l" t="t" r="r" b="b"/>
            <a:pathLst>
              <a:path w="4071119" h="481236">
                <a:moveTo>
                  <a:pt x="0" y="0"/>
                </a:moveTo>
                <a:lnTo>
                  <a:pt x="4071119" y="0"/>
                </a:lnTo>
                <a:lnTo>
                  <a:pt x="4071119" y="481236"/>
                </a:lnTo>
                <a:lnTo>
                  <a:pt x="47293" y="481236"/>
                </a:lnTo>
                <a:arcTo wR="47293" hR="47293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500881" y="3895874"/>
            <a:ext cx="4071119" cy="19050"/>
          </a:xfrm>
          <a:prstGeom prst="roundRect">
            <a:avLst>
              <a:gd name="adj" fmla="val 50000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635943" y="4030935"/>
            <a:ext cx="380099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Game Performance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0" y="3895874"/>
            <a:ext cx="4071119" cy="481236"/>
          </a:xfrm>
          <a:custGeom>
            <a:avLst/>
            <a:gdLst/>
            <a:ahLst/>
            <a:cxnLst/>
            <a:rect l="l" t="t" r="r" b="b"/>
            <a:pathLst>
              <a:path w="4071119" h="481236">
                <a:moveTo>
                  <a:pt x="0" y="0"/>
                </a:moveTo>
                <a:lnTo>
                  <a:pt x="4071119" y="0"/>
                </a:lnTo>
                <a:lnTo>
                  <a:pt x="4071119" y="433943"/>
                </a:lnTo>
                <a:arcTo wR="47293" hR="47293" stAng="0" swAng="5400000"/>
                <a:lnTo>
                  <a:pt x="0" y="481236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4572000" y="3895874"/>
            <a:ext cx="19050" cy="481236"/>
          </a:xfrm>
          <a:prstGeom prst="roundRect">
            <a:avLst>
              <a:gd name="adj" fmla="val 50000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4572000" y="3895874"/>
            <a:ext cx="4071119" cy="19050"/>
          </a:xfrm>
          <a:prstGeom prst="roundRect">
            <a:avLst>
              <a:gd name="adj" fmla="val 50000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4707062" y="4030935"/>
            <a:ext cx="380099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Insights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96119" y="4526756"/>
            <a:ext cx="860896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Sidebar filters for genre, platform, price range, and date — KPI cards surface top-level metrics at a glance.</a:t>
            </a:r>
            <a:endParaRPr lang="en-US" sz="10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FDF111-1D0C-5838-AC11-DDDCE856A631}"/>
              </a:ext>
            </a:extLst>
          </p:cNvPr>
          <p:cNvSpPr/>
          <p:nvPr/>
        </p:nvSpPr>
        <p:spPr>
          <a:xfrm>
            <a:off x="7907983" y="4679206"/>
            <a:ext cx="1165175" cy="4035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1601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Visualizations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042517"/>
            <a:ext cx="1371600" cy="8476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067348"/>
            <a:ext cx="19050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 Reviewed Games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373859"/>
            <a:ext cx="190500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Counter-Strike 2 leads with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7.6M+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positive reviews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2042517"/>
            <a:ext cx="1371600" cy="8476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3067348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Genre Distribution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78298" y="3373859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Indie &amp; Action dominate the Steam catalog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2042517"/>
            <a:ext cx="1371600" cy="84765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3067348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Platform Support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0553" y="3373859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Windows: 125K+ games · Mac: 21K · Linux: 16K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2042517"/>
            <a:ext cx="1371600" cy="84765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3067348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Engagement Trends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42807" y="3373859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Peak CCU and review volume across titles</a:t>
            </a:r>
            <a:endParaRPr lang="en-US" sz="11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4BB2A0-8FF4-6EF0-3DB3-A3D5B51A5EC3}"/>
              </a:ext>
            </a:extLst>
          </p:cNvPr>
          <p:cNvSpPr/>
          <p:nvPr/>
        </p:nvSpPr>
        <p:spPr>
          <a:xfrm>
            <a:off x="7907983" y="4679206"/>
            <a:ext cx="1165175" cy="4035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2534"/>
            <a:ext cx="8151763" cy="256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Market &amp; Performance Analysis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07281"/>
            <a:ext cx="2723183" cy="163026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1228" y="772939"/>
            <a:ext cx="3854053" cy="229894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3231728"/>
            <a:ext cx="2723183" cy="1465883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3423940" y="3720703"/>
            <a:ext cx="5228630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Findings</a:t>
            </a:r>
            <a:endParaRPr lang="en-US" sz="800" dirty="0"/>
          </a:p>
        </p:txBody>
      </p:sp>
      <p:sp>
        <p:nvSpPr>
          <p:cNvPr id="7" name="Text 2"/>
          <p:cNvSpPr/>
          <p:nvPr/>
        </p:nvSpPr>
        <p:spPr>
          <a:xfrm>
            <a:off x="3423940" y="3896097"/>
            <a:ext cx="5228630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1920" indent="-121920" algn="l">
              <a:lnSpc>
                <a:spcPct val="105000"/>
              </a:lnSpc>
              <a:buSzPct val="100000"/>
              <a:buChar char="•"/>
            </a:pPr>
            <a:r>
              <a:rPr lang="en-US" sz="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Positive reviews strongly correlate with recommendations </a:t>
            </a:r>
            <a:r>
              <a:rPr lang="en-US" sz="6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(r = 0.74)</a:t>
            </a:r>
            <a:endParaRPr lang="en-US" sz="600" dirty="0"/>
          </a:p>
          <a:p>
            <a:pPr marL="121920" indent="-121920" algn="l">
              <a:lnSpc>
                <a:spcPct val="105000"/>
              </a:lnSpc>
              <a:buSzPct val="100000"/>
              <a:buChar char="•"/>
            </a:pPr>
            <a:r>
              <a:rPr lang="en-US" sz="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Valve leads developer recommendations; Ubisoft Montreal close second</a:t>
            </a:r>
            <a:endParaRPr lang="en-US" sz="600" dirty="0"/>
          </a:p>
          <a:p>
            <a:pPr marL="121920" indent="-121920" algn="l">
              <a:lnSpc>
                <a:spcPct val="105000"/>
              </a:lnSpc>
              <a:buSzPct val="100000"/>
              <a:buChar char="•"/>
            </a:pPr>
            <a:r>
              <a:rPr lang="en-US" sz="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Most high-review games are priced </a:t>
            </a:r>
            <a:r>
              <a:rPr lang="en-US" sz="6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under $20</a:t>
            </a:r>
            <a:endParaRPr lang="en-US" sz="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7A397F-1734-F287-68CE-30060CD53E64}"/>
              </a:ext>
            </a:extLst>
          </p:cNvPr>
          <p:cNvSpPr/>
          <p:nvPr/>
        </p:nvSpPr>
        <p:spPr>
          <a:xfrm>
            <a:off x="7907983" y="4679206"/>
            <a:ext cx="1165175" cy="4035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2904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Insights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555552"/>
            <a:ext cx="2622724" cy="13085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3127" y="1716360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Platform Dominance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33127" y="2022872"/>
            <a:ext cx="22249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Windows dominates platform support across the entire Steam catalog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1555552"/>
            <a:ext cx="2622724" cy="13085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97610" y="1716360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Genre Landscape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497610" y="2022872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Indie &amp; Action are the most common genres by volume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5083" y="1555552"/>
            <a:ext cx="2622724" cy="130857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62092" y="1716360"/>
            <a:ext cx="22249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Review → Recommendation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262092" y="2244328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More positive reviews consistently drive more recommendations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005882"/>
            <a:ext cx="2622724" cy="130857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3127" y="3166690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Engagement Variance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33127" y="3473202"/>
            <a:ext cx="22249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engagement varies significantly across titles — a few outliers dominate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3005882"/>
            <a:ext cx="2622724" cy="130857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497610" y="3166690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Dynamic Exploration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497610" y="3473202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Sidebar filters enable efficient, real-time dataset exploration</a:t>
            </a:r>
            <a:endParaRPr lang="en-US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0A8F6B-C5E1-B077-E871-EC08ACF5B179}"/>
              </a:ext>
            </a:extLst>
          </p:cNvPr>
          <p:cNvSpPr/>
          <p:nvPr/>
        </p:nvSpPr>
        <p:spPr>
          <a:xfrm>
            <a:off x="7907983" y="4679206"/>
            <a:ext cx="1165175" cy="4035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623218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127880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925119" y="1500708"/>
            <a:ext cx="2290465" cy="1905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3925119" y="1609651"/>
            <a:ext cx="22904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Built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925119" y="1916162"/>
            <a:ext cx="22904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Fully interactive Steam Games dashboard with Streamlit &amp; Plotly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357342" y="127880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57342" y="1500708"/>
            <a:ext cx="2290539" cy="1905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357342" y="1609651"/>
            <a:ext cx="22905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Applied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57342" y="1916162"/>
            <a:ext cx="22905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Preprocessing pipelines, KPI cards, and multi-tab visualization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925119" y="261781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925119" y="2839715"/>
            <a:ext cx="4722763" cy="1905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3925119" y="2948657"/>
            <a:ext cx="4722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Future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3925119" y="3255169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Steam API integration, real-time updates, and ML-powered recommendations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909120" y="4133999"/>
            <a:ext cx="49673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Thank You — Questions?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925119" y="3974529"/>
            <a:ext cx="19050" cy="545753"/>
          </a:xfrm>
          <a:prstGeom prst="roundRect">
            <a:avLst>
              <a:gd name="adj" fmla="val 5000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7AF00A-A03B-A331-6183-337F52FD147F}"/>
              </a:ext>
            </a:extLst>
          </p:cNvPr>
          <p:cNvSpPr/>
          <p:nvPr/>
        </p:nvSpPr>
        <p:spPr>
          <a:xfrm>
            <a:off x="7907983" y="4679206"/>
            <a:ext cx="1165175" cy="4035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340</Words>
  <Application>Microsoft Office PowerPoint</Application>
  <PresentationFormat>On-screen Show (16:9)</PresentationFormat>
  <Paragraphs>74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Raleway</vt:lpstr>
      <vt:lpstr>Calibri</vt:lpstr>
      <vt:lpstr>Arial</vt:lpstr>
      <vt:lpstr>Roboto</vt:lpstr>
      <vt:lpstr>Roboto Bold</vt:lpstr>
      <vt:lpstr>Raleway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Gireesh Chowdary</dc:creator>
  <cp:lastModifiedBy>Gireesh Chowdary Tripuraneni</cp:lastModifiedBy>
  <cp:revision>2</cp:revision>
  <dcterms:created xsi:type="dcterms:W3CDTF">2026-07-28T20:06:34Z</dcterms:created>
  <dcterms:modified xsi:type="dcterms:W3CDTF">2026-07-28T20:11:28Z</dcterms:modified>
</cp:coreProperties>
</file>